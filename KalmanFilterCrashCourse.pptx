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7FFFD6F2_19921FB8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147473138" r:id="rId2"/>
    <p:sldId id="2147473294" r:id="rId3"/>
    <p:sldId id="2147473295" r:id="rId4"/>
    <p:sldId id="2147473285" r:id="rId5"/>
    <p:sldId id="2147473301" r:id="rId6"/>
    <p:sldId id="2147473296" r:id="rId7"/>
    <p:sldId id="2147473300" r:id="rId8"/>
    <p:sldId id="214747329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0AD035-3505-C36C-B6AD-025FAC7FB452}" name="Erin Coyle" initials="EC" userId="S::erin@aboutenergy.co.uk::09fce018-a62b-4475-9cd7-ded7ac3bed35" providerId="AD"/>
  <p188:author id="{3299E06E-29B4-A3AF-917C-95F4DA2A1988}" name="Darryl Doyle" initials="DD" userId="S::darryl@aboutenergy.co.uk::42d64240-357a-49d9-81fd-899278a11501" providerId="AD"/>
  <p188:author id="{DD86D6ED-FBC7-8C87-A36D-939CBE85BA1D}" name="Christian Pilling" initials="CP" userId="S::christian@aboutenergy.co.uk::26335408-860a-41cc-b6e0-e4638b70b11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357"/>
    <a:srgbClr val="33B2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2884" autoAdjust="0"/>
  </p:normalViewPr>
  <p:slideViewPr>
    <p:cSldViewPr snapToGrid="0">
      <p:cViewPr varScale="1">
        <p:scale>
          <a:sx n="79" d="100"/>
          <a:sy n="79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Pilling" userId="26335408-860a-41cc-b6e0-e4638b70b11e" providerId="ADAL" clId="{E2AEAED6-9353-439B-A9B9-81FC5485577D}"/>
    <pc:docChg chg="undo custSel addSld delSld modSld sldOrd">
      <pc:chgData name="Christian Pilling" userId="26335408-860a-41cc-b6e0-e4638b70b11e" providerId="ADAL" clId="{E2AEAED6-9353-439B-A9B9-81FC5485577D}" dt="2026-04-16T09:31:42.286" v="5132" actId="20577"/>
      <pc:docMkLst>
        <pc:docMk/>
      </pc:docMkLst>
      <pc:sldChg chg="addSp delSp modSp mod ord">
        <pc:chgData name="Christian Pilling" userId="26335408-860a-41cc-b6e0-e4638b70b11e" providerId="ADAL" clId="{E2AEAED6-9353-439B-A9B9-81FC5485577D}" dt="2026-04-16T08:57:00.070" v="5111" actId="20577"/>
        <pc:sldMkLst>
          <pc:docMk/>
          <pc:sldMk cId="3690744674" sldId="2147473285"/>
        </pc:sldMkLst>
        <pc:spChg chg="mod">
          <ac:chgData name="Christian Pilling" userId="26335408-860a-41cc-b6e0-e4638b70b11e" providerId="ADAL" clId="{E2AEAED6-9353-439B-A9B9-81FC5485577D}" dt="2026-04-16T08:56:32.366" v="5086" actId="20577"/>
          <ac:spMkLst>
            <pc:docMk/>
            <pc:sldMk cId="3690744674" sldId="2147473285"/>
            <ac:spMk id="4" creationId="{05F63094-30D7-33A1-1EBE-09C7EB26B6DC}"/>
          </ac:spMkLst>
        </pc:spChg>
        <pc:spChg chg="mod">
          <ac:chgData name="Christian Pilling" userId="26335408-860a-41cc-b6e0-e4638b70b11e" providerId="ADAL" clId="{E2AEAED6-9353-439B-A9B9-81FC5485577D}" dt="2026-04-16T08:56:45.117" v="5101" actId="20577"/>
          <ac:spMkLst>
            <pc:docMk/>
            <pc:sldMk cId="3690744674" sldId="2147473285"/>
            <ac:spMk id="5" creationId="{DDF24525-E7B3-7C7F-AD8C-36299E7D9EF0}"/>
          </ac:spMkLst>
        </pc:spChg>
        <pc:spChg chg="mod">
          <ac:chgData name="Christian Pilling" userId="26335408-860a-41cc-b6e0-e4638b70b11e" providerId="ADAL" clId="{E2AEAED6-9353-439B-A9B9-81FC5485577D}" dt="2026-04-16T08:57:00.070" v="5111" actId="20577"/>
          <ac:spMkLst>
            <pc:docMk/>
            <pc:sldMk cId="3690744674" sldId="2147473285"/>
            <ac:spMk id="12" creationId="{C40B81D3-3DEF-B145-981C-A0C457AC62C5}"/>
          </ac:spMkLst>
        </pc:spChg>
      </pc:sldChg>
      <pc:sldChg chg="ord">
        <pc:chgData name="Christian Pilling" userId="26335408-860a-41cc-b6e0-e4638b70b11e" providerId="ADAL" clId="{E2AEAED6-9353-439B-A9B9-81FC5485577D}" dt="2026-04-16T08:59:56.831" v="5113"/>
        <pc:sldMkLst>
          <pc:docMk/>
          <pc:sldMk cId="905928627" sldId="2147473295"/>
        </pc:sldMkLst>
      </pc:sldChg>
      <pc:sldChg chg="modSp mod">
        <pc:chgData name="Christian Pilling" userId="26335408-860a-41cc-b6e0-e4638b70b11e" providerId="ADAL" clId="{E2AEAED6-9353-439B-A9B9-81FC5485577D}" dt="2026-04-16T09:31:42.286" v="5132" actId="20577"/>
        <pc:sldMkLst>
          <pc:docMk/>
          <pc:sldMk cId="3003689274" sldId="2147473296"/>
        </pc:sldMkLst>
        <pc:spChg chg="mod">
          <ac:chgData name="Christian Pilling" userId="26335408-860a-41cc-b6e0-e4638b70b11e" providerId="ADAL" clId="{E2AEAED6-9353-439B-A9B9-81FC5485577D}" dt="2026-04-16T09:31:42.286" v="5132" actId="20577"/>
          <ac:spMkLst>
            <pc:docMk/>
            <pc:sldMk cId="3003689274" sldId="2147473296"/>
            <ac:spMk id="35" creationId="{826ED317-4110-6668-4FDE-2DD0B0B4F055}"/>
          </ac:spMkLst>
        </pc:spChg>
      </pc:sldChg>
    </pc:docChg>
  </pc:docChgLst>
</pc:chgInfo>
</file>

<file path=ppt/comments/modernComment_7FFFD6F2_19921F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FF23A2-F003-468B-A33D-92768DD770D6}" authorId="{DD86D6ED-FBC7-8C87-A36D-939CBE85BA1D}" created="2024-04-13T23:52:29.813">
    <pc:sldMkLst xmlns:pc="http://schemas.microsoft.com/office/powerpoint/2013/main/command">
      <pc:docMk/>
      <pc:sldMk cId="429006776" sldId="2147473138"/>
    </pc:sldMkLst>
    <p188:replyLst>
      <p188:reply id="{7BB225A8-9030-4DA2-85D7-8EA06148674B}" authorId="{DD86D6ED-FBC7-8C87-A36D-939CBE85BA1D}" created="2024-04-13T23:52:39.266">
        <p188:txBody>
          <a:bodyPr/>
          <a:lstStyle/>
          <a:p>
            <a:r>
              <a:rPr lang="en-GB"/>
              <a:t>Add nice transitions and sources!!</a:t>
            </a:r>
          </a:p>
        </p188:txBody>
      </p188:reply>
      <p188:reply id="{4C1BE96D-87CE-4F3B-96D7-827C8C95C78A}" authorId="{DD86D6ED-FBC7-8C87-A36D-939CBE85BA1D}" created="2024-04-13T23:55:37.087">
        <p188:txBody>
          <a:bodyPr/>
          <a:lstStyle/>
          <a:p>
            <a:r>
              <a:rPr lang="en-GB"/>
              <a:t>Check spelling and capitalization</a:t>
            </a:r>
          </a:p>
        </p188:txBody>
      </p188:reply>
    </p188:replyLst>
    <p188:txBody>
      <a:bodyPr/>
      <a:lstStyle/>
      <a:p>
        <a:r>
          <a:rPr lang="en-GB"/>
          <a:t>Add page numbers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33781-86DF-45FE-A1FF-836DF6E34FEB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9CBA1-742F-4119-AC4B-CCF4861BD1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1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37F0D-C280-4C23-ABF4-5423EC4C56A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48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SoC is a measure of how many Ampere Hours remain within the cell!</a:t>
            </a:r>
          </a:p>
          <a:p>
            <a:endParaRPr lang="en-GB" dirty="0"/>
          </a:p>
          <a:p>
            <a:r>
              <a:rPr lang="en-GB" dirty="0"/>
              <a:t>We cannot measure SOC directly, we can only measure voltage temperature and current. – then model based estimators, then pack calculations. To get to metrics that we really care about like How much energy is available, how much power is available. </a:t>
            </a:r>
          </a:p>
          <a:p>
            <a:endParaRPr lang="en-GB" dirty="0"/>
          </a:p>
          <a:p>
            <a:r>
              <a:rPr lang="en-GB" dirty="0"/>
              <a:t>-The pack calculations require additional parameters like capacity and internal resistance. </a:t>
            </a:r>
          </a:p>
          <a:p>
            <a:r>
              <a:rPr lang="en-GB" dirty="0"/>
              <a:t>But SOC is by far the most important of these (it underpins both energy and power estimates and can change quite rapidly) </a:t>
            </a:r>
          </a:p>
          <a:p>
            <a:endParaRPr lang="en-GB" dirty="0"/>
          </a:p>
          <a:p>
            <a:r>
              <a:rPr lang="en-GB" dirty="0"/>
              <a:t>- SOC is a state variable ( a variable that can change quite rapidly)</a:t>
            </a:r>
          </a:p>
          <a:p>
            <a:r>
              <a:rPr lang="en-GB" dirty="0"/>
              <a:t>The internal resistance and capacity of the cell are parameters that change much slower (as the cell degrades). 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SOC estimation is one of the core functions of </a:t>
            </a:r>
            <a:r>
              <a:rPr lang="en-GB" dirty="0" err="1"/>
              <a:t>whats</a:t>
            </a:r>
            <a:r>
              <a:rPr lang="en-GB" dirty="0"/>
              <a:t> called the Battery Management System. 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CBA1-742F-4119-AC4B-CCF4861BD1F4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498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CBA1-742F-4119-AC4B-CCF4861BD1F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114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463E9-1FCD-034D-1106-EF0C6405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95C70-5428-12E7-87E1-7A4DE5CC4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35C66-7B01-59AA-9F94-0DDB73405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https://eatron.com/battery-management-at-the-edge-vs-in-the-cloud-which-is-best/#:~:text=Lower%20latency%3A%20Edge%20computing%20can,be%20transferred%20to%20the%20cloud.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https://www.energy-storage.news/do-lfp-battery-systems-deliver-lower-returns-than-nmc-ones/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589CA-FDCE-2495-AA17-BDC0F8D9C9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CBA1-742F-4119-AC4B-CCF4861BD1F4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93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CBA1-742F-4119-AC4B-CCF4861BD1F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153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9CBA1-742F-4119-AC4B-CCF4861BD1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91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6156-2702-C8E6-621C-AD4783339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4C6CF-3591-9D6E-14F8-F91C86DFC1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63993-2E65-1BA1-ECAF-A7D1A285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612AB-A6A7-6BB4-60FB-AC0162E94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4364B-8827-C94B-6E26-81D23EB5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52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7BCD-8543-969F-A953-C639AA2D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17B7B-9E1C-CFE6-CCA2-5B4FF76CF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7F8D9-C34F-CE85-1A49-D299D280C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CD2521-5A30-9BEF-3A22-F561E2AC3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52A43-5226-7357-5566-844B770E1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191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A8EF-6ABA-2DE1-C59B-EAEAA44C9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81167-559B-F0AC-5AFD-B06F06619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1C7A-D8ED-2377-17B6-01BB60778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9F4B5-6762-4640-6F14-297E102D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2E16-A232-DC33-71C5-61D6CE17A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417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89CA-46FF-C8B9-ECED-57FABB145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E1F63-2A72-BAD9-A53D-71E8C4D7D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CD27F-18A7-3C63-BC03-BBB64916F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2D0B1-A3B4-9B2D-F34C-98B148F2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52BD-74EA-2FAF-1411-9E5E3B4D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9DE4D-EEF0-2902-243C-B3EBE0FA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025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9B15-312F-E947-3DF1-BC677719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12A90-4CF4-25BD-AA09-22D4FCCC9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EA019-23C0-9887-8976-B6283BD9E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251DC-6DF6-B232-5305-569147E4B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7AD2-D073-76FC-F69E-08ED70482C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22814-172A-46B0-57A4-D7842704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278BF-CF10-132A-E29A-7190849D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626B97-3BC6-21DE-63B8-967090DD9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278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3E01-2948-1506-26A8-57591E85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84F74-D07B-D623-A14D-13CB2ADC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B2C82-170F-9515-FDBC-D8C2E7FD3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0E40EB-0770-9A5E-40F9-9364CBA9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295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0E0B0-5CA3-5F92-A333-15BE8DC8E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31F53-E4B8-6C43-6467-F1D087FE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EAA97-5752-801B-38EE-FB7597F1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01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F74B-2009-2271-CDBF-82411A78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5B48-F0D1-C601-05EC-2E071713B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38031-444D-4FA7-A1CE-5AC553265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F80AA-663F-982B-7F4D-A0C9F3FC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1D5CC-00AE-3B83-E119-0996B8E70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68007-F79F-C5D2-B86A-5DCD30E74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65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8B23-55FA-61AF-B83B-3BFEE41E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26C86-DFFB-DB3C-D0A1-5994A9246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79042-3735-25E5-7F01-05292C314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E99A66-31D5-31C6-F51A-60446B0F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51CDE-625C-EF68-A41F-4EB051683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974E6-7AEF-1E8E-9453-A55AF6F8B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5BCBF-079F-8D51-7ADA-DBE5DA3AE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6DF73-C17F-D8AD-09E0-BEA456747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F9AAE-41BA-A66C-3FD0-114A6ECF8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B6656-5B45-2847-1181-3E8DE21D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3ED15-9EA7-3C29-9B1F-A3D0E4AE6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5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5E719-9D91-D7EC-8F2F-981B91ABC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C0CDD-3997-F2E0-1322-D07521623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58058-5F80-B69A-C6A1-31284DD7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6594E-E74B-BE44-9A01-71F414CE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EB107-ABF5-A405-FD32-7F8B2BF4B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433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6F080D-5983-EA25-84BB-42D4507336F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0015" y="378106"/>
            <a:ext cx="11211970" cy="4523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400" cap="all" spc="12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TITLE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BA4084-A674-C71B-28B3-B34610733574}"/>
              </a:ext>
            </a:extLst>
          </p:cNvPr>
          <p:cNvSpPr/>
          <p:nvPr userDrawn="1"/>
        </p:nvSpPr>
        <p:spPr>
          <a:xfrm>
            <a:off x="518590" y="155122"/>
            <a:ext cx="99060" cy="99060"/>
          </a:xfrm>
          <a:prstGeom prst="rect">
            <a:avLst/>
          </a:prstGeom>
          <a:solidFill>
            <a:srgbClr val="49B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050D02-3FC8-FEC7-1A7F-7A1762C88B62}"/>
              </a:ext>
            </a:extLst>
          </p:cNvPr>
          <p:cNvSpPr/>
          <p:nvPr userDrawn="1"/>
        </p:nvSpPr>
        <p:spPr>
          <a:xfrm>
            <a:off x="702740" y="155122"/>
            <a:ext cx="99060" cy="99060"/>
          </a:xfrm>
          <a:prstGeom prst="rect">
            <a:avLst/>
          </a:prstGeom>
          <a:solidFill>
            <a:srgbClr val="347C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1115A-5CD4-5463-F8A8-5E5EBB26315E}"/>
              </a:ext>
            </a:extLst>
          </p:cNvPr>
          <p:cNvSpPr/>
          <p:nvPr userDrawn="1"/>
        </p:nvSpPr>
        <p:spPr>
          <a:xfrm>
            <a:off x="886890" y="155122"/>
            <a:ext cx="99060" cy="9906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7816CB8-DFB9-511E-AFAA-CAA49D524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24395" y="629733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defRPr>
            </a:lvl1pPr>
          </a:lstStyle>
          <a:p>
            <a:fld id="{5C6F26BF-26CD-4C58-844D-67899F6E7F2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bg object 17">
            <a:extLst>
              <a:ext uri="{FF2B5EF4-FFF2-40B4-BE49-F238E27FC236}">
                <a16:creationId xmlns:a16="http://schemas.microsoft.com/office/drawing/2014/main" id="{5781014F-D68D-6655-629C-A5888B069AF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5968" y="6370319"/>
            <a:ext cx="1844039" cy="38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8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CB759-9AA5-0C95-A57A-1DAAF1B6D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8DE62-8488-44F8-D220-B40486C21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221BE-6868-B316-F03C-7C6C832F3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B332A-C6C8-42EE-B9B0-E83F3737C269}" type="datetimeFigureOut">
              <a:rPr lang="en-GB" smtClean="0"/>
              <a:t>16/04/2026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FF30-DA50-73A6-3B7D-B7A69CC42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7E04A-EE8F-5448-84FD-CBC126BFD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42841-E423-4DCA-AFC4-EA7371FDA3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31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microsoft.com/office/2018/10/relationships/comments" Target="../comments/modernComment_7FFFD6F2_19921FB8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B0F9370-7957-41E8-29CF-4FDA9A4D889A}"/>
              </a:ext>
            </a:extLst>
          </p:cNvPr>
          <p:cNvSpPr/>
          <p:nvPr/>
        </p:nvSpPr>
        <p:spPr>
          <a:xfrm>
            <a:off x="0" y="6307139"/>
            <a:ext cx="12192000" cy="550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36" descr="The Faraday Institution - Powering Britain's Battery Revolution">
            <a:extLst>
              <a:ext uri="{FF2B5EF4-FFF2-40B4-BE49-F238E27FC236}">
                <a16:creationId xmlns:a16="http://schemas.microsoft.com/office/drawing/2014/main" id="{90326E43-CDBF-2CEE-E165-3037C34B8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46617" y="6455293"/>
            <a:ext cx="1108691" cy="23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Royal Academy of Engineering">
            <a:extLst>
              <a:ext uri="{FF2B5EF4-FFF2-40B4-BE49-F238E27FC236}">
                <a16:creationId xmlns:a16="http://schemas.microsoft.com/office/drawing/2014/main" id="{F1E0968C-5EC6-24D6-21A9-B5E5877F7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91036" y="6431048"/>
            <a:ext cx="1033890" cy="28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Innovate UK Knowledge Transfer Network - Nuclear Industry Association">
            <a:extLst>
              <a:ext uri="{FF2B5EF4-FFF2-40B4-BE49-F238E27FC236}">
                <a16:creationId xmlns:a16="http://schemas.microsoft.com/office/drawing/2014/main" id="{F628F73E-555E-0144-EDF6-F51957201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0654" y="6390485"/>
            <a:ext cx="362440" cy="36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APC - Advanced Propulsion Centre">
            <a:extLst>
              <a:ext uri="{FF2B5EF4-FFF2-40B4-BE49-F238E27FC236}">
                <a16:creationId xmlns:a16="http://schemas.microsoft.com/office/drawing/2014/main" id="{133AA92C-BB42-A228-AE6C-F5D414018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58822" y="6417720"/>
            <a:ext cx="888919" cy="307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University logo guidelines">
            <a:extLst>
              <a:ext uri="{FF2B5EF4-FFF2-40B4-BE49-F238E27FC236}">
                <a16:creationId xmlns:a16="http://schemas.microsoft.com/office/drawing/2014/main" id="{F6054347-F23C-1E2A-586A-2B65FF4B6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08752" y="6287866"/>
            <a:ext cx="1445418" cy="567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4CD8A54B-3810-65F7-FE1F-96D1282E8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3490" y="6441056"/>
            <a:ext cx="997399" cy="26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lug and Play Tech Center - Plug and Play Tech Center">
            <a:extLst>
              <a:ext uri="{FF2B5EF4-FFF2-40B4-BE49-F238E27FC236}">
                <a16:creationId xmlns:a16="http://schemas.microsoft.com/office/drawing/2014/main" id="{552338D8-AC37-6C46-852F-B7C9AEE5F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83469" y="6466591"/>
            <a:ext cx="1113482" cy="21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ome - Creative Destruction Lab">
            <a:extLst>
              <a:ext uri="{FF2B5EF4-FFF2-40B4-BE49-F238E27FC236}">
                <a16:creationId xmlns:a16="http://schemas.microsoft.com/office/drawing/2014/main" id="{5EF6AC9E-5FDD-DCD7-33A2-98CA336F3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32679" y="6378975"/>
            <a:ext cx="1165109" cy="385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2F072BF2-A9A4-EB36-C4D0-8022F7087B78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40210" y="645006"/>
            <a:ext cx="5089868" cy="4935291"/>
          </a:xfrm>
          <a:prstGeom prst="rect">
            <a:avLst/>
          </a:prstGeom>
        </p:spPr>
      </p:pic>
      <p:pic>
        <p:nvPicPr>
          <p:cNvPr id="3" name="Picture 4" descr="Battery Caffè Podcast - Episode 2: Battery recycling | Innovate UK">
            <a:extLst>
              <a:ext uri="{FF2B5EF4-FFF2-40B4-BE49-F238E27FC236}">
                <a16:creationId xmlns:a16="http://schemas.microsoft.com/office/drawing/2014/main" id="{299153E7-8A03-C8D6-6F56-028804D375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478796" y="6338007"/>
            <a:ext cx="777771" cy="467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7CD9F79-C91A-C519-321E-25687B3BF7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8126" y="2505846"/>
            <a:ext cx="5328736" cy="11017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F06BE1-DE99-630E-AAA6-AE871E08B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6F26BF-26CD-4C58-844D-67899F6E7F23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2444FD-8A58-111E-5151-410B9A953108}"/>
              </a:ext>
            </a:extLst>
          </p:cNvPr>
          <p:cNvSpPr txBox="1"/>
          <p:nvPr/>
        </p:nvSpPr>
        <p:spPr>
          <a:xfrm>
            <a:off x="309168" y="3767065"/>
            <a:ext cx="653104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GB" sz="2000" dirty="0">
                <a:latin typeface="Montserrat" panose="00000500000000000000" pitchFamily="2" charset="0"/>
              </a:rPr>
              <a:t>LFP State of Charge Estimation: </a:t>
            </a:r>
            <a:br>
              <a:rPr lang="en-GB" sz="2000" dirty="0">
                <a:latin typeface="Montserrat" panose="00000500000000000000" pitchFamily="2" charset="0"/>
              </a:rPr>
            </a:br>
            <a:r>
              <a:rPr lang="en-GB" sz="1600" dirty="0">
                <a:latin typeface="Montserrat" panose="00000500000000000000" pitchFamily="2" charset="0"/>
              </a:rPr>
              <a:t>Why it matters and why it’s hard…</a:t>
            </a:r>
            <a:endParaRPr lang="en-IN" sz="1600" dirty="0"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22361-8306-993E-CC7B-96E566E5290D}"/>
              </a:ext>
            </a:extLst>
          </p:cNvPr>
          <p:cNvSpPr txBox="1"/>
          <p:nvPr/>
        </p:nvSpPr>
        <p:spPr>
          <a:xfrm>
            <a:off x="1551538" y="4598860"/>
            <a:ext cx="37000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33B357"/>
                </a:solidFill>
                <a:latin typeface="Montserrat" pitchFamily="2" charset="77"/>
              </a:rPr>
              <a:t>Christian Pilling – Solar and Storage Live 2024</a:t>
            </a:r>
          </a:p>
        </p:txBody>
      </p:sp>
    </p:spTree>
    <p:extLst>
      <p:ext uri="{BB962C8B-B14F-4D97-AF65-F5344CB8AC3E}">
        <p14:creationId xmlns:p14="http://schemas.microsoft.com/office/powerpoint/2010/main" val="429006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7DF88C64-56CB-5CFA-C515-4C48B4DB6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8338" y="3089582"/>
            <a:ext cx="958712" cy="198336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F61A998A-3403-78F4-DF63-C0AB3CAEA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251" y="3080748"/>
            <a:ext cx="958712" cy="198336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BA510511-DC22-0738-0457-90953759819F}"/>
              </a:ext>
            </a:extLst>
          </p:cNvPr>
          <p:cNvSpPr/>
          <p:nvPr/>
        </p:nvSpPr>
        <p:spPr>
          <a:xfrm>
            <a:off x="2338471" y="991406"/>
            <a:ext cx="1836000" cy="31766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1B016E-D8D2-0306-131B-A59D72DFD114}"/>
              </a:ext>
            </a:extLst>
          </p:cNvPr>
          <p:cNvSpPr txBox="1"/>
          <p:nvPr/>
        </p:nvSpPr>
        <p:spPr>
          <a:xfrm>
            <a:off x="567678" y="637944"/>
            <a:ext cx="36038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ontserrat" pitchFamily="2" charset="77"/>
              </a:rPr>
              <a:t>Why do we </a:t>
            </a:r>
            <a:r>
              <a:rPr lang="en-US" sz="2000" b="1" dirty="0">
                <a:solidFill>
                  <a:srgbClr val="33B357"/>
                </a:solidFill>
                <a:latin typeface="Montserrat" pitchFamily="2" charset="77"/>
              </a:rPr>
              <a:t>estimate</a:t>
            </a:r>
            <a:r>
              <a:rPr lang="en-US" sz="2000" dirty="0">
                <a:solidFill>
                  <a:srgbClr val="33B357"/>
                </a:solidFill>
                <a:latin typeface="Montserrat" pitchFamily="2" charset="77"/>
              </a:rPr>
              <a:t> </a:t>
            </a:r>
            <a:r>
              <a:rPr lang="en-US" sz="2000" dirty="0">
                <a:latin typeface="Montserrat" pitchFamily="2" charset="77"/>
              </a:rPr>
              <a:t>SoC?</a:t>
            </a:r>
          </a:p>
        </p:txBody>
      </p:sp>
      <p:pic>
        <p:nvPicPr>
          <p:cNvPr id="7" name="bg object 17">
            <a:extLst>
              <a:ext uri="{FF2B5EF4-FFF2-40B4-BE49-F238E27FC236}">
                <a16:creationId xmlns:a16="http://schemas.microsoft.com/office/drawing/2014/main" id="{6A5D6030-2EFF-86D6-A64F-B66AC30DBDE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968" y="6370319"/>
            <a:ext cx="1844039" cy="38404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52A93E2-B345-106C-B7B6-F6369AC706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638" y="3625867"/>
            <a:ext cx="958712" cy="1983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7ACE4C-7AC3-EFCB-B511-F16FE9475D82}"/>
              </a:ext>
            </a:extLst>
          </p:cNvPr>
          <p:cNvSpPr txBox="1"/>
          <p:nvPr/>
        </p:nvSpPr>
        <p:spPr>
          <a:xfrm>
            <a:off x="567678" y="1317903"/>
            <a:ext cx="963139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Montserrat" panose="00000500000000000000" pitchFamily="2" charset="0"/>
              </a:rPr>
              <a:t>We cannot measure SoC directly!</a:t>
            </a:r>
          </a:p>
          <a:p>
            <a:endParaRPr lang="en-GB" sz="1600" dirty="0">
              <a:latin typeface="Montserrat" panose="00000500000000000000" pitchFamily="2" charset="0"/>
            </a:endParaRPr>
          </a:p>
          <a:p>
            <a:r>
              <a:rPr lang="en-GB" sz="1600" dirty="0">
                <a:latin typeface="Montserrat" panose="00000500000000000000" pitchFamily="2" charset="0"/>
              </a:rPr>
              <a:t>How much </a:t>
            </a:r>
            <a:r>
              <a:rPr lang="en-GB" sz="1600" b="1" dirty="0">
                <a:latin typeface="Montserrat" panose="00000500000000000000" pitchFamily="2" charset="0"/>
              </a:rPr>
              <a:t>energy</a:t>
            </a:r>
            <a:r>
              <a:rPr lang="en-GB" sz="1600" dirty="0">
                <a:latin typeface="Montserrat" panose="00000500000000000000" pitchFamily="2" charset="0"/>
              </a:rPr>
              <a:t> is available from my system?</a:t>
            </a:r>
          </a:p>
          <a:p>
            <a:endParaRPr lang="en-GB" sz="1600" dirty="0">
              <a:latin typeface="Montserrat" panose="00000500000000000000" pitchFamily="2" charset="0"/>
            </a:endParaRPr>
          </a:p>
          <a:p>
            <a:r>
              <a:rPr lang="en-GB" sz="1600" dirty="0">
                <a:latin typeface="Montserrat" panose="00000500000000000000" pitchFamily="2" charset="0"/>
              </a:rPr>
              <a:t>How much </a:t>
            </a:r>
            <a:r>
              <a:rPr lang="en-GB" sz="1600" b="1" dirty="0">
                <a:latin typeface="Montserrat" panose="00000500000000000000" pitchFamily="2" charset="0"/>
              </a:rPr>
              <a:t>power</a:t>
            </a:r>
            <a:r>
              <a:rPr lang="en-GB" sz="1600" dirty="0">
                <a:latin typeface="Montserrat" panose="00000500000000000000" pitchFamily="2" charset="0"/>
              </a:rPr>
              <a:t> is available from my system in the </a:t>
            </a:r>
            <a:r>
              <a:rPr lang="en-GB" sz="1600" i="1" dirty="0">
                <a:latin typeface="Montserrat" panose="00000500000000000000" pitchFamily="2" charset="0"/>
              </a:rPr>
              <a:t>immediate future?</a:t>
            </a:r>
            <a:endParaRPr lang="en-GB" sz="1600" dirty="0">
              <a:latin typeface="Montserrat" panose="00000500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50C23E-B87D-3BD0-258A-0CE84CE1D37C}"/>
              </a:ext>
            </a:extLst>
          </p:cNvPr>
          <p:cNvSpPr/>
          <p:nvPr/>
        </p:nvSpPr>
        <p:spPr>
          <a:xfrm>
            <a:off x="2965221" y="2957330"/>
            <a:ext cx="642288" cy="640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ontserrat" panose="00000500000000000000" pitchFamily="2" charset="0"/>
              </a:rPr>
              <a:t>V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365916-2CD5-D7B9-B6A4-788F262ABB64}"/>
              </a:ext>
            </a:extLst>
          </p:cNvPr>
          <p:cNvSpPr/>
          <p:nvPr/>
        </p:nvSpPr>
        <p:spPr>
          <a:xfrm>
            <a:off x="2965221" y="4745699"/>
            <a:ext cx="642289" cy="64228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ontserrat" panose="00000500000000000000" pitchFamily="2" charset="0"/>
              </a:rPr>
              <a:t>I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DDF373-0B7A-1999-FAEC-DCDDCDB27377}"/>
              </a:ext>
            </a:extLst>
          </p:cNvPr>
          <p:cNvSpPr/>
          <p:nvPr/>
        </p:nvSpPr>
        <p:spPr>
          <a:xfrm>
            <a:off x="2965221" y="3835524"/>
            <a:ext cx="642289" cy="64228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ontserrat" panose="00000500000000000000" pitchFamily="2" charset="0"/>
              </a:rPr>
              <a:t>T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9DEC09B8-E039-6FA9-707D-01CDA7CDE369}"/>
              </a:ext>
            </a:extLst>
          </p:cNvPr>
          <p:cNvSpPr/>
          <p:nvPr/>
        </p:nvSpPr>
        <p:spPr>
          <a:xfrm>
            <a:off x="4346237" y="2862943"/>
            <a:ext cx="2072499" cy="2587450"/>
          </a:xfrm>
          <a:prstGeom prst="roundRect">
            <a:avLst>
              <a:gd name="adj" fmla="val 8866"/>
            </a:avLst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Model Based Estimators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937466CD-FBAB-5E34-7B66-A8F762F84FE8}"/>
              </a:ext>
            </a:extLst>
          </p:cNvPr>
          <p:cNvSpPr/>
          <p:nvPr/>
        </p:nvSpPr>
        <p:spPr>
          <a:xfrm>
            <a:off x="8126578" y="2862943"/>
            <a:ext cx="2072499" cy="2587450"/>
          </a:xfrm>
          <a:prstGeom prst="roundRect">
            <a:avLst>
              <a:gd name="adj" fmla="val 8866"/>
            </a:avLst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Pack Calculations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D4CE13-0842-6430-F410-95C814FFEE4C}"/>
              </a:ext>
            </a:extLst>
          </p:cNvPr>
          <p:cNvSpPr/>
          <p:nvPr/>
        </p:nvSpPr>
        <p:spPr>
          <a:xfrm>
            <a:off x="6766381" y="3671583"/>
            <a:ext cx="1027294" cy="970171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ontserrat" panose="00000500000000000000" pitchFamily="2" charset="0"/>
              </a:rPr>
              <a:t>SoC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CC148CE4-DCE5-A972-2CE0-703403A65A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251" y="3634701"/>
            <a:ext cx="958712" cy="198336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38E0391-B7D9-8701-BB1B-158700C4B686}"/>
              </a:ext>
            </a:extLst>
          </p:cNvPr>
          <p:cNvSpPr txBox="1"/>
          <p:nvPr/>
        </p:nvSpPr>
        <p:spPr>
          <a:xfrm>
            <a:off x="10542050" y="3435050"/>
            <a:ext cx="129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Energy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A028C2-C032-FFD4-E3DD-532391D641DF}"/>
              </a:ext>
            </a:extLst>
          </p:cNvPr>
          <p:cNvSpPr txBox="1"/>
          <p:nvPr/>
        </p:nvSpPr>
        <p:spPr>
          <a:xfrm>
            <a:off x="10560565" y="4457817"/>
            <a:ext cx="1298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" panose="00000500000000000000" pitchFamily="2" charset="0"/>
              </a:rPr>
              <a:t>Power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7B3E733-A2CD-4A94-DECB-B53B8EE93BAD}"/>
              </a:ext>
            </a:extLst>
          </p:cNvPr>
          <p:cNvCxnSpPr/>
          <p:nvPr/>
        </p:nvCxnSpPr>
        <p:spPr>
          <a:xfrm flipV="1">
            <a:off x="2596638" y="3588734"/>
            <a:ext cx="283029" cy="256848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165DE5B-9915-2D11-0B30-F333ACF5ECD3}"/>
              </a:ext>
            </a:extLst>
          </p:cNvPr>
          <p:cNvCxnSpPr>
            <a:cxnSpLocks/>
          </p:cNvCxnSpPr>
          <p:nvPr/>
        </p:nvCxnSpPr>
        <p:spPr>
          <a:xfrm>
            <a:off x="2596638" y="4578049"/>
            <a:ext cx="257038" cy="17503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7EB500F-BB5C-E15D-E31E-3A3C11593350}"/>
              </a:ext>
            </a:extLst>
          </p:cNvPr>
          <p:cNvCxnSpPr>
            <a:cxnSpLocks/>
          </p:cNvCxnSpPr>
          <p:nvPr/>
        </p:nvCxnSpPr>
        <p:spPr>
          <a:xfrm>
            <a:off x="2596638" y="4156668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454C564-1EF6-1972-589A-2DF53D864FB2}"/>
              </a:ext>
            </a:extLst>
          </p:cNvPr>
          <p:cNvCxnSpPr>
            <a:cxnSpLocks/>
          </p:cNvCxnSpPr>
          <p:nvPr/>
        </p:nvCxnSpPr>
        <p:spPr>
          <a:xfrm>
            <a:off x="3769771" y="3277730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4CCC199-FC68-F41C-25E0-E3B0FEFCEEAB}"/>
              </a:ext>
            </a:extLst>
          </p:cNvPr>
          <p:cNvCxnSpPr>
            <a:cxnSpLocks/>
          </p:cNvCxnSpPr>
          <p:nvPr/>
        </p:nvCxnSpPr>
        <p:spPr>
          <a:xfrm>
            <a:off x="3769771" y="4156668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3867C16-1819-B1B9-9E68-C0C661E29EA4}"/>
              </a:ext>
            </a:extLst>
          </p:cNvPr>
          <p:cNvCxnSpPr>
            <a:cxnSpLocks/>
          </p:cNvCxnSpPr>
          <p:nvPr/>
        </p:nvCxnSpPr>
        <p:spPr>
          <a:xfrm>
            <a:off x="3769771" y="5066843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93C63E7-4DBF-975A-3533-04C06E1CAB15}"/>
              </a:ext>
            </a:extLst>
          </p:cNvPr>
          <p:cNvCxnSpPr>
            <a:cxnSpLocks/>
          </p:cNvCxnSpPr>
          <p:nvPr/>
        </p:nvCxnSpPr>
        <p:spPr>
          <a:xfrm>
            <a:off x="6418736" y="4156668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459207A-3231-0D38-10F0-86835C06C8F8}"/>
              </a:ext>
            </a:extLst>
          </p:cNvPr>
          <p:cNvCxnSpPr>
            <a:cxnSpLocks/>
          </p:cNvCxnSpPr>
          <p:nvPr/>
        </p:nvCxnSpPr>
        <p:spPr>
          <a:xfrm>
            <a:off x="7843549" y="4156668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0577701-1750-96EA-1263-2D20E0698E66}"/>
              </a:ext>
            </a:extLst>
          </p:cNvPr>
          <p:cNvCxnSpPr>
            <a:cxnSpLocks/>
          </p:cNvCxnSpPr>
          <p:nvPr/>
        </p:nvCxnSpPr>
        <p:spPr>
          <a:xfrm>
            <a:off x="10278247" y="3626842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8BD5505-78C9-0F18-B662-CCD64CD57DB4}"/>
              </a:ext>
            </a:extLst>
          </p:cNvPr>
          <p:cNvCxnSpPr>
            <a:cxnSpLocks/>
          </p:cNvCxnSpPr>
          <p:nvPr/>
        </p:nvCxnSpPr>
        <p:spPr>
          <a:xfrm>
            <a:off x="10278247" y="4642483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EB1D84E0-D5FD-FA45-C1D1-BC8FE1F4CF79}"/>
              </a:ext>
            </a:extLst>
          </p:cNvPr>
          <p:cNvSpPr/>
          <p:nvPr/>
        </p:nvSpPr>
        <p:spPr>
          <a:xfrm>
            <a:off x="6959628" y="2957330"/>
            <a:ext cx="640800" cy="640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ontserrat" panose="00000500000000000000" pitchFamily="2" charset="0"/>
              </a:rPr>
              <a:t>Q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EAF820B-5C16-A099-AE81-6FE6B6D7DE0E}"/>
              </a:ext>
            </a:extLst>
          </p:cNvPr>
          <p:cNvSpPr/>
          <p:nvPr/>
        </p:nvSpPr>
        <p:spPr>
          <a:xfrm>
            <a:off x="6959628" y="4746443"/>
            <a:ext cx="640800" cy="6408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  <a:latin typeface="Montserrat" panose="00000500000000000000" pitchFamily="2" charset="0"/>
              </a:rPr>
              <a:t>R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A9C033D-8E76-3284-755B-BB624A17AACA}"/>
              </a:ext>
            </a:extLst>
          </p:cNvPr>
          <p:cNvCxnSpPr>
            <a:cxnSpLocks/>
          </p:cNvCxnSpPr>
          <p:nvPr/>
        </p:nvCxnSpPr>
        <p:spPr>
          <a:xfrm>
            <a:off x="6560249" y="5072951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876A2EE-F19B-68A6-1580-250B1A6FD92B}"/>
              </a:ext>
            </a:extLst>
          </p:cNvPr>
          <p:cNvCxnSpPr>
            <a:cxnSpLocks/>
          </p:cNvCxnSpPr>
          <p:nvPr/>
        </p:nvCxnSpPr>
        <p:spPr>
          <a:xfrm>
            <a:off x="7690350" y="5066843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D6BEBB8-52EF-49D6-511D-A2D8C95DFE70}"/>
              </a:ext>
            </a:extLst>
          </p:cNvPr>
          <p:cNvCxnSpPr>
            <a:cxnSpLocks/>
          </p:cNvCxnSpPr>
          <p:nvPr/>
        </p:nvCxnSpPr>
        <p:spPr>
          <a:xfrm>
            <a:off x="7702034" y="3277730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977C99B-6BC9-2055-21ED-CC52E78FAA8D}"/>
              </a:ext>
            </a:extLst>
          </p:cNvPr>
          <p:cNvCxnSpPr>
            <a:cxnSpLocks/>
          </p:cNvCxnSpPr>
          <p:nvPr/>
        </p:nvCxnSpPr>
        <p:spPr>
          <a:xfrm>
            <a:off x="6560250" y="3277730"/>
            <a:ext cx="283029" cy="0"/>
          </a:xfrm>
          <a:prstGeom prst="line">
            <a:avLst/>
          </a:prstGeom>
          <a:ln w="12700">
            <a:solidFill>
              <a:srgbClr val="33B3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340FD1-7B34-06DE-8204-BC31DB612DAA}"/>
              </a:ext>
            </a:extLst>
          </p:cNvPr>
          <p:cNvSpPr txBox="1">
            <a:spLocks/>
          </p:cNvSpPr>
          <p:nvPr/>
        </p:nvSpPr>
        <p:spPr>
          <a:xfrm>
            <a:off x="9024395" y="6297331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C6F26BF-26CD-4C58-844D-67899F6E7F23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6A3361-0EA0-92D1-5B9A-682919DB2A19}"/>
              </a:ext>
            </a:extLst>
          </p:cNvPr>
          <p:cNvSpPr txBox="1"/>
          <p:nvPr/>
        </p:nvSpPr>
        <p:spPr>
          <a:xfrm>
            <a:off x="2407050" y="637872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800" b="0" i="0" dirty="0" err="1">
                <a:solidFill>
                  <a:schemeClr val="bg1">
                    <a:lumMod val="65000"/>
                  </a:schemeClr>
                </a:solidFill>
                <a:effectLst/>
                <a:latin typeface="Montserrat" panose="00000500000000000000" pitchFamily="2" charset="0"/>
              </a:rPr>
              <a:t>Plett</a:t>
            </a:r>
            <a:r>
              <a:rPr lang="en-US" sz="800" b="0" i="0" dirty="0">
                <a:solidFill>
                  <a:schemeClr val="bg1">
                    <a:lumMod val="65000"/>
                  </a:schemeClr>
                </a:solidFill>
                <a:effectLst/>
                <a:latin typeface="Montserrat" panose="00000500000000000000" pitchFamily="2" charset="0"/>
              </a:rPr>
              <a:t>, G. (n.d.). Lecture notes and recordings for ECE5720: Battery Management and Control. Retrieved from </a:t>
            </a:r>
            <a:r>
              <a:rPr lang="en-US" sz="800" b="0" i="0" strike="noStrike" dirty="0">
                <a:solidFill>
                  <a:schemeClr val="bg1">
                    <a:lumMod val="65000"/>
                  </a:schemeClr>
                </a:solidFill>
                <a:effectLst/>
                <a:latin typeface="Montserrat" panose="00000500000000000000" pitchFamily="2" charset="0"/>
              </a:rPr>
              <a:t>http://mocha-java.uccs.edu/ECE5720/index.html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65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31D86F4-8B62-8BE0-C13C-6263F88D3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4851" y="1200674"/>
            <a:ext cx="6549531" cy="1842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C10C20-9556-082F-2407-2A6F088A5054}"/>
              </a:ext>
            </a:extLst>
          </p:cNvPr>
          <p:cNvSpPr txBox="1"/>
          <p:nvPr/>
        </p:nvSpPr>
        <p:spPr>
          <a:xfrm>
            <a:off x="528780" y="3776451"/>
            <a:ext cx="1113443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For </a:t>
            </a:r>
            <a:r>
              <a:rPr lang="en-GB" sz="1400" b="1" dirty="0"/>
              <a:t>linear systems </a:t>
            </a:r>
            <a:r>
              <a:rPr lang="en-GB" sz="1400" dirty="0"/>
              <a:t>all probability density functions remain Gaussian if the stochastic inputs are Gaussian. (We need everything to stay Gaussian so we can describe distributions entirely using mean and covariance)</a:t>
            </a:r>
          </a:p>
          <a:p>
            <a:endParaRPr lang="en-GB" sz="1400" dirty="0"/>
          </a:p>
          <a:p>
            <a:r>
              <a:rPr lang="en-GB" sz="1400" dirty="0"/>
              <a:t>The following are assumed to be Gaussian distributed:</a:t>
            </a:r>
          </a:p>
          <a:p>
            <a:r>
              <a:rPr lang="en-GB" sz="1400" dirty="0"/>
              <a:t>State (even though it is fixed, from the filter’s perspective it is modelled as an unknown random variable</a:t>
            </a:r>
          </a:p>
          <a:p>
            <a:r>
              <a:rPr lang="en-GB" sz="1400" dirty="0"/>
              <a:t>Modelled output</a:t>
            </a:r>
          </a:p>
          <a:p>
            <a:r>
              <a:rPr lang="en-GB" sz="1400" dirty="0"/>
              <a:t>Process noise</a:t>
            </a:r>
          </a:p>
          <a:p>
            <a:r>
              <a:rPr lang="en-GB" sz="1400" dirty="0"/>
              <a:t>Measurement noise</a:t>
            </a:r>
          </a:p>
          <a:p>
            <a:r>
              <a:rPr lang="en-GB" sz="1400" dirty="0"/>
              <a:t>Deterministic: Model matrices (A,B,C,D), control input</a:t>
            </a:r>
          </a:p>
          <a:p>
            <a:endParaRPr lang="en-GB" sz="1400" dirty="0"/>
          </a:p>
          <a:p>
            <a:r>
              <a:rPr lang="en-GB" sz="1400" dirty="0"/>
              <a:t>(Covariance </a:t>
            </a:r>
            <a:r>
              <a:rPr lang="en-GB" dirty="0"/>
              <a:t>≈</a:t>
            </a:r>
            <a:r>
              <a:rPr lang="en-GB" sz="1400" dirty="0"/>
              <a:t> Uncertainty / Spread of a random variables distribution and ). </a:t>
            </a:r>
          </a:p>
          <a:p>
            <a:br>
              <a:rPr lang="en-GB" sz="1400" dirty="0"/>
            </a:br>
            <a:r>
              <a:rPr lang="en-GB" sz="1400" dirty="0"/>
              <a:t>Note: Most popular nonlinear Kalman filters simply linearise the models they are applied to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0A355E1-C710-6F2A-23E6-FDA8702B4BD3}"/>
              </a:ext>
            </a:extLst>
          </p:cNvPr>
          <p:cNvCxnSpPr>
            <a:cxnSpLocks/>
          </p:cNvCxnSpPr>
          <p:nvPr/>
        </p:nvCxnSpPr>
        <p:spPr>
          <a:xfrm flipV="1">
            <a:off x="8699770" y="1057637"/>
            <a:ext cx="1134894" cy="561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AA730B-24BC-A8D8-F4D5-095E84C13916}"/>
              </a:ext>
            </a:extLst>
          </p:cNvPr>
          <p:cNvCxnSpPr>
            <a:cxnSpLocks/>
          </p:cNvCxnSpPr>
          <p:nvPr/>
        </p:nvCxnSpPr>
        <p:spPr>
          <a:xfrm>
            <a:off x="7393700" y="2544963"/>
            <a:ext cx="2181559" cy="723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1502288-1835-A417-F43A-744882344D6B}"/>
              </a:ext>
            </a:extLst>
          </p:cNvPr>
          <p:cNvSpPr txBox="1"/>
          <p:nvPr/>
        </p:nvSpPr>
        <p:spPr>
          <a:xfrm>
            <a:off x="9304382" y="768645"/>
            <a:ext cx="29054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Process noise</a:t>
            </a:r>
          </a:p>
          <a:p>
            <a:endParaRPr lang="en-GB" dirty="0"/>
          </a:p>
          <a:p>
            <a:r>
              <a:rPr lang="en-GB" dirty="0"/>
              <a:t>Uncertainty in the system dynamics (Model uncertainty / unmodelled dynamics, Input uncertainty)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0ED97-CD78-DE47-6F29-E9E09C9EB4E3}"/>
              </a:ext>
            </a:extLst>
          </p:cNvPr>
          <p:cNvSpPr txBox="1"/>
          <p:nvPr/>
        </p:nvSpPr>
        <p:spPr>
          <a:xfrm>
            <a:off x="9575259" y="2603117"/>
            <a:ext cx="19828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Sensor noise</a:t>
            </a:r>
          </a:p>
          <a:p>
            <a:r>
              <a:rPr lang="en-GB" dirty="0"/>
              <a:t>Uncertainty in the measurement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8352DF-F103-EE8F-ADF8-A59C01C68CBB}"/>
              </a:ext>
            </a:extLst>
          </p:cNvPr>
          <p:cNvCxnSpPr>
            <a:cxnSpLocks/>
          </p:cNvCxnSpPr>
          <p:nvPr/>
        </p:nvCxnSpPr>
        <p:spPr>
          <a:xfrm flipH="1">
            <a:off x="2308876" y="1711322"/>
            <a:ext cx="800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63381AA-4E33-35EC-63F6-A3E8BE1AC6C7}"/>
              </a:ext>
            </a:extLst>
          </p:cNvPr>
          <p:cNvSpPr txBox="1"/>
          <p:nvPr/>
        </p:nvSpPr>
        <p:spPr>
          <a:xfrm>
            <a:off x="489409" y="1434085"/>
            <a:ext cx="1663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State equation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385DCA-A603-91B4-DB95-315999405FF1}"/>
              </a:ext>
            </a:extLst>
          </p:cNvPr>
          <p:cNvSpPr txBox="1"/>
          <p:nvPr/>
        </p:nvSpPr>
        <p:spPr>
          <a:xfrm>
            <a:off x="489408" y="2310339"/>
            <a:ext cx="1994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Output equation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857C0E0-C851-89E9-664F-FEF6AD1A9510}"/>
              </a:ext>
            </a:extLst>
          </p:cNvPr>
          <p:cNvCxnSpPr>
            <a:cxnSpLocks/>
          </p:cNvCxnSpPr>
          <p:nvPr/>
        </p:nvCxnSpPr>
        <p:spPr>
          <a:xfrm flipH="1">
            <a:off x="2354484" y="2488562"/>
            <a:ext cx="800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A3A556B1-2637-896F-246A-F452B6257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8891082" cy="8102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General model form required for the linear Kalman Filter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3C7E51-23AE-A65C-85A8-360BD41B5899}"/>
              </a:ext>
            </a:extLst>
          </p:cNvPr>
          <p:cNvCxnSpPr>
            <a:cxnSpLocks/>
          </p:cNvCxnSpPr>
          <p:nvPr/>
        </p:nvCxnSpPr>
        <p:spPr>
          <a:xfrm flipV="1">
            <a:off x="3398196" y="953311"/>
            <a:ext cx="0" cy="542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5A40E8-BE41-5C93-285A-73147C1C8A64}"/>
              </a:ext>
            </a:extLst>
          </p:cNvPr>
          <p:cNvSpPr txBox="1"/>
          <p:nvPr/>
        </p:nvSpPr>
        <p:spPr>
          <a:xfrm>
            <a:off x="1906621" y="583979"/>
            <a:ext cx="766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want our estimator to help us estimate this. (Cannot directly measure it)</a:t>
            </a:r>
          </a:p>
        </p:txBody>
      </p:sp>
    </p:spTree>
    <p:extLst>
      <p:ext uri="{BB962C8B-B14F-4D97-AF65-F5344CB8AC3E}">
        <p14:creationId xmlns:p14="http://schemas.microsoft.com/office/powerpoint/2010/main" val="905928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95D8-7D6C-EE55-686E-A0A8BD13E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45">
            <a:extLst>
              <a:ext uri="{FF2B5EF4-FFF2-40B4-BE49-F238E27FC236}">
                <a16:creationId xmlns:a16="http://schemas.microsoft.com/office/drawing/2014/main" id="{6E1995D4-A227-97F2-E342-A12CD792ECC2}"/>
              </a:ext>
            </a:extLst>
          </p:cNvPr>
          <p:cNvSpPr/>
          <p:nvPr/>
        </p:nvSpPr>
        <p:spPr>
          <a:xfrm>
            <a:off x="287028" y="486015"/>
            <a:ext cx="11380701" cy="5619045"/>
          </a:xfrm>
          <a:prstGeom prst="roundRect">
            <a:avLst>
              <a:gd name="adj" fmla="val 4819"/>
            </a:avLst>
          </a:prstGeom>
          <a:solidFill>
            <a:schemeClr val="bg1"/>
          </a:solidFill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Rounded Rectangle 45">
            <a:extLst>
              <a:ext uri="{FF2B5EF4-FFF2-40B4-BE49-F238E27FC236}">
                <a16:creationId xmlns:a16="http://schemas.microsoft.com/office/drawing/2014/main" id="{828EFD52-96C1-F4B9-1F3D-4F46608C07D4}"/>
              </a:ext>
            </a:extLst>
          </p:cNvPr>
          <p:cNvSpPr/>
          <p:nvPr/>
        </p:nvSpPr>
        <p:spPr>
          <a:xfrm>
            <a:off x="184570" y="486015"/>
            <a:ext cx="10822461" cy="1043697"/>
          </a:xfrm>
          <a:prstGeom prst="roundRect">
            <a:avLst>
              <a:gd name="adj" fmla="val 4819"/>
            </a:avLst>
          </a:prstGeom>
          <a:noFill/>
          <a:ln>
            <a:noFill/>
          </a:ln>
          <a:effectLst>
            <a:outerShdw blurRad="162852" dist="38100" dir="2700000" algn="tl" rotWithShape="0">
              <a:prstClr val="black">
                <a:alpha val="11492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Montserrat" panose="00000500000000000000" pitchFamily="2" charset="0"/>
              </a:rPr>
              <a:t>Kalman Filter SOC Estimation Example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4BA131-053C-CFB5-00DF-6373835AB7E7}"/>
              </a:ext>
            </a:extLst>
          </p:cNvPr>
          <p:cNvGrpSpPr/>
          <p:nvPr/>
        </p:nvGrpSpPr>
        <p:grpSpPr>
          <a:xfrm>
            <a:off x="1818170" y="1379243"/>
            <a:ext cx="7808050" cy="3620159"/>
            <a:chOff x="6074229" y="2868103"/>
            <a:chExt cx="8050108" cy="244507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F63094-30D7-33A1-1EBE-09C7EB26B6DC}"/>
                </a:ext>
              </a:extLst>
            </p:cNvPr>
            <p:cNvSpPr txBox="1"/>
            <p:nvPr/>
          </p:nvSpPr>
          <p:spPr>
            <a:xfrm>
              <a:off x="6074229" y="2872105"/>
              <a:ext cx="2758439" cy="18708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Initial state estimate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F24525-E7B3-7C7F-AD8C-36299E7D9EF0}"/>
                </a:ext>
              </a:extLst>
            </p:cNvPr>
            <p:cNvSpPr txBox="1"/>
            <p:nvPr/>
          </p:nvSpPr>
          <p:spPr>
            <a:xfrm>
              <a:off x="6074229" y="3475218"/>
              <a:ext cx="2758439" cy="4365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Predict next state (SOC) </a:t>
              </a:r>
            </a:p>
            <a:p>
              <a:pPr algn="ctr"/>
              <a:r>
                <a:rPr lang="en-GB" sz="1200" dirty="0"/>
                <a:t>(using your state equation, the previous state, and the previous load)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046EA4-7912-836F-8BA7-1EC3A63152AA}"/>
                </a:ext>
              </a:extLst>
            </p:cNvPr>
            <p:cNvSpPr txBox="1"/>
            <p:nvPr/>
          </p:nvSpPr>
          <p:spPr>
            <a:xfrm>
              <a:off x="6074229" y="4876641"/>
              <a:ext cx="2758439" cy="4365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Predict Cell Voltage</a:t>
              </a:r>
            </a:p>
            <a:p>
              <a:pPr algn="ctr"/>
              <a:r>
                <a:rPr lang="en-GB" sz="1200" dirty="0"/>
                <a:t>(using your output equation, the predicted state, and measured input)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09956D-5CCA-722F-2139-BE4933B8B938}"/>
                </a:ext>
              </a:extLst>
            </p:cNvPr>
            <p:cNvSpPr txBox="1"/>
            <p:nvPr/>
          </p:nvSpPr>
          <p:spPr>
            <a:xfrm>
              <a:off x="10898535" y="4943413"/>
              <a:ext cx="3225802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Compute Kalman Gain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0B81D3-3DEF-B145-981C-A0C457AC62C5}"/>
                </a:ext>
              </a:extLst>
            </p:cNvPr>
            <p:cNvSpPr txBox="1"/>
            <p:nvPr/>
          </p:nvSpPr>
          <p:spPr>
            <a:xfrm>
              <a:off x="11055950" y="3486650"/>
              <a:ext cx="2910969" cy="43653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Correct Predicted state (SOC) based on difference between predicted and measured cell voltage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AB1C3F0-833D-52D8-F668-F9CB3C3B45D0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>
              <a:off x="7453449" y="3059191"/>
              <a:ext cx="0" cy="41602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B45B957-3285-CE9E-6BD5-D03B04E8A568}"/>
                </a:ext>
              </a:extLst>
            </p:cNvPr>
            <p:cNvCxnSpPr>
              <a:cxnSpLocks/>
              <a:stCxn id="5" idx="2"/>
              <a:endCxn id="10" idx="0"/>
            </p:cNvCxnSpPr>
            <p:nvPr/>
          </p:nvCxnSpPr>
          <p:spPr>
            <a:xfrm>
              <a:off x="7453449" y="3911753"/>
              <a:ext cx="0" cy="9648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524375E-DF18-CFA7-95F9-12F65ECF471F}"/>
                </a:ext>
              </a:extLst>
            </p:cNvPr>
            <p:cNvCxnSpPr>
              <a:cxnSpLocks/>
            </p:cNvCxnSpPr>
            <p:nvPr/>
          </p:nvCxnSpPr>
          <p:spPr>
            <a:xfrm>
              <a:off x="8832669" y="5081913"/>
              <a:ext cx="20658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572014D-8084-10CA-ABB6-336C006A797A}"/>
                </a:ext>
              </a:extLst>
            </p:cNvPr>
            <p:cNvCxnSpPr>
              <a:cxnSpLocks/>
              <a:stCxn id="11" idx="0"/>
              <a:endCxn id="23" idx="2"/>
            </p:cNvCxnSpPr>
            <p:nvPr/>
          </p:nvCxnSpPr>
          <p:spPr>
            <a:xfrm flipH="1" flipV="1">
              <a:off x="12511435" y="4520963"/>
              <a:ext cx="1" cy="4224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01A0580-FD35-9AC9-B8E2-B9C0A0D4495B}"/>
                </a:ext>
              </a:extLst>
            </p:cNvPr>
            <p:cNvCxnSpPr>
              <a:cxnSpLocks/>
              <a:stCxn id="12" idx="1"/>
              <a:endCxn id="5" idx="3"/>
            </p:cNvCxnSpPr>
            <p:nvPr/>
          </p:nvCxnSpPr>
          <p:spPr>
            <a:xfrm flipH="1" flipV="1">
              <a:off x="8832668" y="3693486"/>
              <a:ext cx="2223282" cy="114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Content Placeholder 2">
              <a:extLst>
                <a:ext uri="{FF2B5EF4-FFF2-40B4-BE49-F238E27FC236}">
                  <a16:creationId xmlns:a16="http://schemas.microsoft.com/office/drawing/2014/main" id="{6DF2600D-7710-E8E3-8E42-7FC2AC340ADD}"/>
                </a:ext>
              </a:extLst>
            </p:cNvPr>
            <p:cNvSpPr txBox="1">
              <a:spLocks/>
            </p:cNvSpPr>
            <p:nvPr/>
          </p:nvSpPr>
          <p:spPr>
            <a:xfrm>
              <a:off x="8485647" y="4255258"/>
              <a:ext cx="2412889" cy="285926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GB" sz="1200" dirty="0"/>
                <a:t>Loop for every timestep…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66C2899-50C7-1F77-1C8E-34A6A7EDAF4B}"/>
                </a:ext>
              </a:extLst>
            </p:cNvPr>
            <p:cNvCxnSpPr>
              <a:cxnSpLocks/>
              <a:stCxn id="12" idx="0"/>
              <a:endCxn id="22" idx="2"/>
            </p:cNvCxnSpPr>
            <p:nvPr/>
          </p:nvCxnSpPr>
          <p:spPr>
            <a:xfrm flipV="1">
              <a:off x="12511435" y="3145102"/>
              <a:ext cx="1" cy="3415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5FB8342-0321-305B-2749-6B47415A23E5}"/>
                </a:ext>
              </a:extLst>
            </p:cNvPr>
            <p:cNvSpPr txBox="1"/>
            <p:nvPr/>
          </p:nvSpPr>
          <p:spPr>
            <a:xfrm>
              <a:off x="11132216" y="2868103"/>
              <a:ext cx="2758439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Output Estimate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110B2E8-8315-5B45-70A6-910DCC53A46B}"/>
                </a:ext>
              </a:extLst>
            </p:cNvPr>
            <p:cNvSpPr txBox="1"/>
            <p:nvPr/>
          </p:nvSpPr>
          <p:spPr>
            <a:xfrm>
              <a:off x="10898534" y="4243964"/>
              <a:ext cx="3225802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/>
                <a:t>Measure cell voltage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0CD15E6-993B-0156-BFC5-3B96C09B690F}"/>
                </a:ext>
              </a:extLst>
            </p:cNvPr>
            <p:cNvCxnSpPr>
              <a:cxnSpLocks/>
              <a:stCxn id="23" idx="0"/>
              <a:endCxn id="12" idx="2"/>
            </p:cNvCxnSpPr>
            <p:nvPr/>
          </p:nvCxnSpPr>
          <p:spPr>
            <a:xfrm flipV="1">
              <a:off x="12511435" y="3923185"/>
              <a:ext cx="0" cy="3207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53A0677D-C6B4-3FCB-4CCF-D55E6B2F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24395" y="6297331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defRPr>
            </a:lvl1pPr>
          </a:lstStyle>
          <a:p>
            <a:fld id="{5C6F26BF-26CD-4C58-844D-67899F6E7F23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74F5A3FE-434A-76CC-62AD-4B4D463B388C}"/>
              </a:ext>
            </a:extLst>
          </p:cNvPr>
          <p:cNvSpPr txBox="1">
            <a:spLocks/>
          </p:cNvSpPr>
          <p:nvPr/>
        </p:nvSpPr>
        <p:spPr>
          <a:xfrm>
            <a:off x="648002" y="5382440"/>
            <a:ext cx="2340336" cy="4233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200" dirty="0"/>
              <a:t>Leaves out uncertainty….</a:t>
            </a:r>
          </a:p>
        </p:txBody>
      </p:sp>
    </p:spTree>
    <p:extLst>
      <p:ext uri="{BB962C8B-B14F-4D97-AF65-F5344CB8AC3E}">
        <p14:creationId xmlns:p14="http://schemas.microsoft.com/office/powerpoint/2010/main" val="369074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ttery State-of-Charge Estimation - MATLAB &amp; Simulink">
            <a:extLst>
              <a:ext uri="{FF2B5EF4-FFF2-40B4-BE49-F238E27FC236}">
                <a16:creationId xmlns:a16="http://schemas.microsoft.com/office/drawing/2014/main" id="{E9885C36-AD93-012F-6CA5-3C1603E0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255" y="682152"/>
            <a:ext cx="9585489" cy="576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8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468310-0DB1-5957-701D-5EFE34FF5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280" y="868392"/>
            <a:ext cx="6795781" cy="38985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4A1FAF4-6F0C-C237-E150-64B477DB2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368" y="5294262"/>
            <a:ext cx="4086984" cy="681164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5393D17-694A-C7E9-47B8-EB2418B63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3677055" cy="53502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Linear Kalman Filter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D1B717-0A09-698E-6926-EA7A9272CD91}"/>
              </a:ext>
            </a:extLst>
          </p:cNvPr>
          <p:cNvCxnSpPr/>
          <p:nvPr/>
        </p:nvCxnSpPr>
        <p:spPr>
          <a:xfrm flipH="1">
            <a:off x="3820160" y="2118820"/>
            <a:ext cx="919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927E871-1A3B-3A07-C5AE-6C7D763FC7D3}"/>
              </a:ext>
            </a:extLst>
          </p:cNvPr>
          <p:cNvSpPr txBox="1"/>
          <p:nvPr/>
        </p:nvSpPr>
        <p:spPr>
          <a:xfrm>
            <a:off x="522880" y="1038392"/>
            <a:ext cx="3474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Best estimate of the current state uses the previous estimate and the previous input, [Note: mean of the process noise = 0]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C7EF7-B8B7-B324-C467-50B9733B9F41}"/>
              </a:ext>
            </a:extLst>
          </p:cNvPr>
          <p:cNvSpPr txBox="1"/>
          <p:nvPr/>
        </p:nvSpPr>
        <p:spPr>
          <a:xfrm>
            <a:off x="1416" y="2536230"/>
            <a:ext cx="41467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Calcualte</a:t>
            </a:r>
            <a:r>
              <a:rPr lang="en-GB" dirty="0"/>
              <a:t> estimate covariance (= estimate uncertainty) using previous estimate’s uncertainty and process noise.  (Needed for the Kalman gain later)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D07A2A6-4BD5-9E64-315B-6AF6877E06BB}"/>
              </a:ext>
            </a:extLst>
          </p:cNvPr>
          <p:cNvCxnSpPr>
            <a:cxnSpLocks/>
          </p:cNvCxnSpPr>
          <p:nvPr/>
        </p:nvCxnSpPr>
        <p:spPr>
          <a:xfrm flipH="1">
            <a:off x="3692144" y="2822732"/>
            <a:ext cx="1047496" cy="154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1D0317-A623-39ED-1B80-ADE5B510AEAA}"/>
              </a:ext>
            </a:extLst>
          </p:cNvPr>
          <p:cNvCxnSpPr>
            <a:cxnSpLocks/>
          </p:cNvCxnSpPr>
          <p:nvPr/>
        </p:nvCxnSpPr>
        <p:spPr>
          <a:xfrm flipH="1">
            <a:off x="3799299" y="3618620"/>
            <a:ext cx="930973" cy="483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45CA23E-5A6A-D28F-FFCF-C5F9950D0918}"/>
              </a:ext>
            </a:extLst>
          </p:cNvPr>
          <p:cNvSpPr txBox="1"/>
          <p:nvPr/>
        </p:nvSpPr>
        <p:spPr>
          <a:xfrm>
            <a:off x="324579" y="4019366"/>
            <a:ext cx="3474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Calculate our best prediction of the </a:t>
            </a:r>
            <a:r>
              <a:rPr lang="en-GB" dirty="0" err="1"/>
              <a:t>the</a:t>
            </a:r>
            <a:r>
              <a:rPr lang="en-GB" dirty="0"/>
              <a:t> output given our best estimate of the current state from 1a and the current input </a:t>
            </a:r>
            <a:r>
              <a:rPr lang="en-GB" dirty="0" err="1"/>
              <a:t>u_k</a:t>
            </a:r>
            <a:r>
              <a:rPr lang="en-GB" dirty="0"/>
              <a:t>. [Note: mean of the sensor noise = 0]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7A88E9D-4115-2980-3FF3-64E601BD8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089" y="0"/>
            <a:ext cx="3086911" cy="86839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5648250-8793-1D1F-1665-2EDF014F9843}"/>
              </a:ext>
            </a:extLst>
          </p:cNvPr>
          <p:cNvSpPr txBox="1"/>
          <p:nvPr/>
        </p:nvSpPr>
        <p:spPr>
          <a:xfrm>
            <a:off x="5128368" y="4990749"/>
            <a:ext cx="4307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Kalman gain is the most critical aspect! </a:t>
            </a:r>
          </a:p>
        </p:txBody>
      </p:sp>
      <p:sp>
        <p:nvSpPr>
          <p:cNvPr id="25" name="Right Brace 24">
            <a:extLst>
              <a:ext uri="{FF2B5EF4-FFF2-40B4-BE49-F238E27FC236}">
                <a16:creationId xmlns:a16="http://schemas.microsoft.com/office/drawing/2014/main" id="{4F0EC7E8-4CC0-EDB8-7576-3E1D1DF1047D}"/>
              </a:ext>
            </a:extLst>
          </p:cNvPr>
          <p:cNvSpPr/>
          <p:nvPr/>
        </p:nvSpPr>
        <p:spPr>
          <a:xfrm rot="16200000">
            <a:off x="9964584" y="2172392"/>
            <a:ext cx="114189" cy="72238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0A664-F784-A267-6A04-464B0BBF6C0C}"/>
              </a:ext>
            </a:extLst>
          </p:cNvPr>
          <p:cNvSpPr txBox="1"/>
          <p:nvPr/>
        </p:nvSpPr>
        <p:spPr>
          <a:xfrm>
            <a:off x="9660488" y="2320750"/>
            <a:ext cx="97195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/>
              <a:t>Innovation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AEA72F-1957-7DAA-CC60-ED9F3DB54D53}"/>
              </a:ext>
            </a:extLst>
          </p:cNvPr>
          <p:cNvSpPr txBox="1"/>
          <p:nvPr/>
        </p:nvSpPr>
        <p:spPr>
          <a:xfrm>
            <a:off x="5939907" y="5990528"/>
            <a:ext cx="2062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Connection between the sate and the output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41155B-0793-A729-C8DF-543B8D4FC139}"/>
              </a:ext>
            </a:extLst>
          </p:cNvPr>
          <p:cNvSpPr txBox="1"/>
          <p:nvPr/>
        </p:nvSpPr>
        <p:spPr>
          <a:xfrm>
            <a:off x="9215352" y="5175575"/>
            <a:ext cx="2496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Large/small Lk = large/small correction to estimate prediction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F37153-0D3F-40B6-1BDD-4FF922F51A71}"/>
              </a:ext>
            </a:extLst>
          </p:cNvPr>
          <p:cNvCxnSpPr>
            <a:cxnSpLocks/>
          </p:cNvCxnSpPr>
          <p:nvPr/>
        </p:nvCxnSpPr>
        <p:spPr>
          <a:xfrm flipH="1">
            <a:off x="3902521" y="5742833"/>
            <a:ext cx="1018693" cy="232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D0D5725-7BA8-8191-F5E5-9D41A58ED6A6}"/>
              </a:ext>
            </a:extLst>
          </p:cNvPr>
          <p:cNvSpPr txBox="1"/>
          <p:nvPr/>
        </p:nvSpPr>
        <p:spPr>
          <a:xfrm>
            <a:off x="522881" y="5488027"/>
            <a:ext cx="34747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Essentially captures how uncertain am I in my estimate, how much is the output affected by the state in question, and how certain am I in my output measurement.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121C04-AC71-A990-2244-6590F720C154}"/>
              </a:ext>
            </a:extLst>
          </p:cNvPr>
          <p:cNvSpPr txBox="1"/>
          <p:nvPr/>
        </p:nvSpPr>
        <p:spPr>
          <a:xfrm>
            <a:off x="4411867" y="6090186"/>
            <a:ext cx="2062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Uncertainty in estimate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6ED317-4110-6668-4FDE-2DD0B0B4F055}"/>
              </a:ext>
            </a:extLst>
          </p:cNvPr>
          <p:cNvSpPr txBox="1"/>
          <p:nvPr/>
        </p:nvSpPr>
        <p:spPr>
          <a:xfrm>
            <a:off x="7882214" y="6114007"/>
            <a:ext cx="2905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Divided by uncertainty in </a:t>
            </a:r>
            <a:r>
              <a:rPr lang="en-GB"/>
              <a:t>my innovation. </a:t>
            </a:r>
            <a:r>
              <a:rPr lang="en-GB" dirty="0"/>
              <a:t>(low = high Lk)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662CBD2-7463-D888-1D68-91BE6310A694}"/>
              </a:ext>
            </a:extLst>
          </p:cNvPr>
          <p:cNvCxnSpPr>
            <a:cxnSpLocks/>
          </p:cNvCxnSpPr>
          <p:nvPr/>
        </p:nvCxnSpPr>
        <p:spPr>
          <a:xfrm flipH="1">
            <a:off x="4908106" y="5859129"/>
            <a:ext cx="949047" cy="239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79E4DCD-8E40-350F-95D5-FDE74D437F47}"/>
              </a:ext>
            </a:extLst>
          </p:cNvPr>
          <p:cNvCxnSpPr>
            <a:cxnSpLocks/>
          </p:cNvCxnSpPr>
          <p:nvPr/>
        </p:nvCxnSpPr>
        <p:spPr>
          <a:xfrm flipH="1">
            <a:off x="6437327" y="5912845"/>
            <a:ext cx="119557" cy="190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3885752-37E5-DD66-518C-47306ABC37FB}"/>
              </a:ext>
            </a:extLst>
          </p:cNvPr>
          <p:cNvCxnSpPr>
            <a:cxnSpLocks/>
          </p:cNvCxnSpPr>
          <p:nvPr/>
        </p:nvCxnSpPr>
        <p:spPr>
          <a:xfrm>
            <a:off x="7964968" y="5931502"/>
            <a:ext cx="637364" cy="2951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2414A9-C419-9F10-3992-CB30C07A057B}"/>
              </a:ext>
            </a:extLst>
          </p:cNvPr>
          <p:cNvCxnSpPr>
            <a:cxnSpLocks/>
          </p:cNvCxnSpPr>
          <p:nvPr/>
        </p:nvCxnSpPr>
        <p:spPr>
          <a:xfrm flipV="1">
            <a:off x="10483110" y="2535554"/>
            <a:ext cx="392413" cy="2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EE7DBB0-2A95-7BC8-F13D-B3AE6D82B099}"/>
              </a:ext>
            </a:extLst>
          </p:cNvPr>
          <p:cNvSpPr txBox="1"/>
          <p:nvPr/>
        </p:nvSpPr>
        <p:spPr>
          <a:xfrm>
            <a:off x="10875523" y="2008251"/>
            <a:ext cx="1533713" cy="834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Update Estimate using Kalman gain, predicted output and measured output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C66898-75DA-9D04-3AB4-5ACAB9FBCBF5}"/>
              </a:ext>
            </a:extLst>
          </p:cNvPr>
          <p:cNvSpPr txBox="1"/>
          <p:nvPr/>
        </p:nvSpPr>
        <p:spPr>
          <a:xfrm>
            <a:off x="9828027" y="916034"/>
            <a:ext cx="23770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The state prediction uncertainty gets updated after the measurement. (Expected to decrease)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D0C516E-C60F-4762-F44A-A3BBDFD773E6}"/>
              </a:ext>
            </a:extLst>
          </p:cNvPr>
          <p:cNvCxnSpPr>
            <a:cxnSpLocks/>
          </p:cNvCxnSpPr>
          <p:nvPr/>
        </p:nvCxnSpPr>
        <p:spPr>
          <a:xfrm flipV="1">
            <a:off x="10306358" y="1629809"/>
            <a:ext cx="392413" cy="230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689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AB246897-86C5-DF18-E721-0CD8B9EE1C2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77055" cy="535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Nonlinear Kalman Filter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53A6A-5A86-F52B-7196-76DD40EC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127" y="2071223"/>
            <a:ext cx="4552545" cy="14733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DC16E1-EF8B-3FCD-721E-309A8420CE58}"/>
              </a:ext>
            </a:extLst>
          </p:cNvPr>
          <p:cNvSpPr txBox="1"/>
          <p:nvPr/>
        </p:nvSpPr>
        <p:spPr>
          <a:xfrm>
            <a:off x="79237" y="535021"/>
            <a:ext cx="5893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Our cell models are actually nonlinear (Look up tables are very nonlinear </a:t>
            </a:r>
            <a:r>
              <a:rPr lang="en-GB" dirty="0" err="1"/>
              <a:t>eg</a:t>
            </a:r>
            <a:r>
              <a:rPr lang="en-GB" dirty="0"/>
              <a:t> OCV as a function of SoC)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CDB813-2605-9875-E176-B9F2AEEF07AD}"/>
              </a:ext>
            </a:extLst>
          </p:cNvPr>
          <p:cNvSpPr txBox="1"/>
          <p:nvPr/>
        </p:nvSpPr>
        <p:spPr>
          <a:xfrm>
            <a:off x="526096" y="3944136"/>
            <a:ext cx="1059262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Extended Kalman Filter </a:t>
            </a:r>
            <a:r>
              <a:rPr lang="en-GB" dirty="0"/>
              <a:t>– Linearise the model at every given point in time for it’s present operating condition (using Taylor series expansion)</a:t>
            </a:r>
          </a:p>
          <a:p>
            <a:endParaRPr lang="en-GB" dirty="0"/>
          </a:p>
          <a:p>
            <a:r>
              <a:rPr lang="en-GB" b="1" dirty="0"/>
              <a:t>Sigma-point (Unscented Kalman Filter) </a:t>
            </a:r>
            <a:r>
              <a:rPr lang="en-GB" dirty="0"/>
              <a:t>– Statistical/empirical linearisation of the model at each point in time. (Better than EKF at same comp. cost)</a:t>
            </a:r>
          </a:p>
          <a:p>
            <a:endParaRPr lang="en-GB" dirty="0"/>
          </a:p>
          <a:p>
            <a:r>
              <a:rPr lang="en-GB" b="1" dirty="0"/>
              <a:t>Particle filters </a:t>
            </a:r>
            <a:r>
              <a:rPr lang="en-GB" dirty="0"/>
              <a:t>– Removes assumption of Gaussian distributions (approximates distributions via histograms and Monte-Carlo integration techniques to find expectations and uncertainties) (High comp. cost)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1086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E7590-1014-DE44-70C0-D7AB8BB1E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0505C12-BAB5-0DDF-83A7-5D8096CD1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9027268" cy="6225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Core requirements for EKF and UKF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9A68CD-614A-3F1E-3969-7CD21CFFE630}"/>
                  </a:ext>
                </a:extLst>
              </p:cNvPr>
              <p:cNvSpPr txBox="1"/>
              <p:nvPr/>
            </p:nvSpPr>
            <p:spPr>
              <a:xfrm>
                <a:off x="587704" y="622570"/>
                <a:ext cx="12003130" cy="6270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 b="1" dirty="0"/>
                  <a:t>1. State-space form</a:t>
                </a:r>
              </a:p>
              <a:p>
                <a:r>
                  <a:rPr lang="en-GB" sz="1200" dirty="0"/>
                  <a:t>You must be able to write the system explicitly as:</a:t>
                </a:r>
              </a:p>
              <a:p>
                <a:r>
                  <a:rPr lang="en-GB" sz="1200" dirty="0"/>
                  <a:t>First-order in time</a:t>
                </a:r>
              </a:p>
              <a:p>
                <a:r>
                  <a:rPr lang="en-GB" sz="1200" dirty="0"/>
                  <a:t>State update depends only on previous state and input</a:t>
                </a:r>
              </a:p>
              <a:p>
                <a:r>
                  <a:rPr lang="en-GB" sz="1200" dirty="0"/>
                  <a:t>If your model is higher-order: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̈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200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sepChr m:val=",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acc>
                            <m:accPr>
                              <m:chr m:val="̇"/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ar-AE" sz="1200" dirty="0"/>
              </a:p>
              <a:p>
                <a:r>
                  <a:rPr lang="en-GB" sz="1200" dirty="0"/>
                  <a:t>You must rewrite it as a first-order state system by augmenting:</a:t>
                </a:r>
              </a:p>
              <a:p>
                <a:endParaRPr lang="en-GB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12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12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120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1200" i="1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sz="12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2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ar-AE" sz="120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200" dirty="0"/>
              </a:p>
              <a:p>
                <a:endParaRPr lang="en-GB" sz="1200" dirty="0"/>
              </a:p>
              <a:p>
                <a:r>
                  <a:rPr lang="en-GB" sz="1200" b="1" dirty="0"/>
                  <a:t>2. State distribution stays approximately Gaussian over time </a:t>
                </a:r>
              </a:p>
              <a:p>
                <a:r>
                  <a:rPr lang="en-GB" sz="1200" dirty="0"/>
                  <a:t>(If not you need particle filter)</a:t>
                </a:r>
              </a:p>
              <a:p>
                <a:endParaRPr lang="en-GB" sz="1200" dirty="0"/>
              </a:p>
              <a:p>
                <a:r>
                  <a:rPr lang="en-GB" sz="1200" b="1" dirty="0"/>
                  <a:t>3. </a:t>
                </a:r>
                <a:r>
                  <a:rPr lang="en-US" sz="1200" b="1" dirty="0"/>
                  <a:t>The system must be “well-behaved”:</a:t>
                </a:r>
              </a:p>
              <a:p>
                <a:r>
                  <a:rPr lang="en-US" sz="1200" dirty="0"/>
                  <a:t>No discontinuities</a:t>
                </a:r>
              </a:p>
              <a:p>
                <a:r>
                  <a:rPr lang="en-US" sz="1200" dirty="0"/>
                  <a:t>No hard switches (unless modeled carefully)</a:t>
                </a:r>
              </a:p>
              <a:p>
                <a:r>
                  <a:rPr lang="en-US" sz="1200" dirty="0"/>
                  <a:t>No undefined derivatives (especially for EKF)</a:t>
                </a:r>
              </a:p>
              <a:p>
                <a:endParaRPr lang="en-US" sz="1200" dirty="0"/>
              </a:p>
              <a:p>
                <a:r>
                  <a:rPr lang="en-US" sz="1200" b="1" dirty="0"/>
                  <a:t>4. Observability is required </a:t>
                </a:r>
              </a:p>
              <a:p>
                <a:r>
                  <a:rPr lang="en-US" sz="1200" dirty="0"/>
                  <a:t>(The output must be directly affected by all the states) </a:t>
                </a:r>
                <a:r>
                  <a:rPr lang="en-GB" sz="1200" dirty="0"/>
                  <a:t>∂</a:t>
                </a:r>
                <a:r>
                  <a:rPr lang="en-GB" sz="1200" dirty="0" err="1"/>
                  <a:t>x∂h</a:t>
                </a:r>
                <a:r>
                  <a:rPr lang="en-GB" sz="1200" dirty="0"/>
                  <a:t>​ should not be = 0 (otherwise measurement tells you nothing about the state)</a:t>
                </a:r>
                <a:endParaRPr lang="en-US" sz="1200" dirty="0"/>
              </a:p>
              <a:p>
                <a:endParaRPr lang="en-GB" sz="1200" dirty="0"/>
              </a:p>
              <a:p>
                <a:r>
                  <a:rPr lang="en-GB" sz="1200" b="1" dirty="0"/>
                  <a:t>5. For EKF only, you must compute Jacobians: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ar-AE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sz="12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ar-AE" sz="120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ar-AE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ar-AE" sz="1200" dirty="0"/>
              </a:p>
              <a:p>
                <a:r>
                  <a:rPr lang="en-GB" sz="1200" dirty="0"/>
                  <a:t>So:</a:t>
                </a:r>
              </a:p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GB" sz="1200" dirty="0"/>
                  <a:t>must be differentiable</a:t>
                </a:r>
              </a:p>
              <a:p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ar-AE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200" dirty="0"/>
                  <a:t>must be differentiable</a:t>
                </a:r>
              </a:p>
              <a:p>
                <a:r>
                  <a:rPr lang="en-GB" sz="1200" dirty="0"/>
                  <a:t>Jacobians must exist everywhere near operating point</a:t>
                </a:r>
              </a:p>
              <a:p>
                <a:endParaRPr lang="en-GB" sz="1200" dirty="0"/>
              </a:p>
              <a:p>
                <a:r>
                  <a:rPr lang="en-GB" dirty="0"/>
                  <a:t>Note: Linearity is not a requirement. </a:t>
                </a:r>
                <a:endParaRPr lang="ar-AE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9A68CD-614A-3F1E-3969-7CD21CFFE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04" y="622570"/>
                <a:ext cx="12003130" cy="6270114"/>
              </a:xfrm>
              <a:prstGeom prst="rect">
                <a:avLst/>
              </a:prstGeom>
              <a:blipFill>
                <a:blip r:embed="rId3"/>
                <a:stretch>
                  <a:fillRect l="-406" b="-58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234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15814</TotalTime>
  <Words>1032</Words>
  <Application>Microsoft Office PowerPoint</Application>
  <PresentationFormat>Widescreen</PresentationFormat>
  <Paragraphs>129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LFP State of Charge Estimation: Why it Matters and Why it’s Hard</dc:title>
  <dc:creator>Christian Pilling</dc:creator>
  <cp:lastModifiedBy>Christian Pilling</cp:lastModifiedBy>
  <cp:revision>10</cp:revision>
  <dcterms:created xsi:type="dcterms:W3CDTF">2024-03-26T00:30:42Z</dcterms:created>
  <dcterms:modified xsi:type="dcterms:W3CDTF">2026-04-16T09:31:46Z</dcterms:modified>
</cp:coreProperties>
</file>